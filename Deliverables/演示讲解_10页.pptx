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cffe2101e7446f" /><Relationship Type="http://schemas.openxmlformats.org/officeDocument/2006/relationships/extended-properties" Target="/docProps/app.xml" Id="Ra3b65a74972b45e1" /><Relationship Type="http://schemas.openxmlformats.org/officeDocument/2006/relationships/officeDocument" Target="/ppt/presentation.xml" Id="R031901051db949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151400ec4f4e3f"/>
  </p:sldMasterIdLst>
  <p:notesMasterIdLst>
    <p:notesMasterId xmlns:r="http://schemas.openxmlformats.org/officeDocument/2006/relationships" r:id="R108fa845f05f412b"/>
  </p:notesMasterIdLst>
  <p:sldIdLst>
    <p:sldId xmlns:r="http://schemas.openxmlformats.org/officeDocument/2006/relationships" id="256" r:id="R2b1624ab48d64deb"/>
    <p:sldId xmlns:r="http://schemas.openxmlformats.org/officeDocument/2006/relationships" id="257" r:id="R548cf146fcd148a4"/>
    <p:sldId xmlns:r="http://schemas.openxmlformats.org/officeDocument/2006/relationships" id="258" r:id="Rb32c93523e314e5e"/>
    <p:sldId xmlns:r="http://schemas.openxmlformats.org/officeDocument/2006/relationships" id="259" r:id="R5689e7512a954448"/>
    <p:sldId xmlns:r="http://schemas.openxmlformats.org/officeDocument/2006/relationships" id="260" r:id="Rac3c480772ca4d5f"/>
    <p:sldId xmlns:r="http://schemas.openxmlformats.org/officeDocument/2006/relationships" id="261" r:id="R6a698e6358e04043"/>
    <p:sldId xmlns:r="http://schemas.openxmlformats.org/officeDocument/2006/relationships" id="262" r:id="Ra1b966da2b1741fc"/>
    <p:sldId xmlns:r="http://schemas.openxmlformats.org/officeDocument/2006/relationships" id="263" r:id="R73c0ef2037ea4a29"/>
    <p:sldId xmlns:r="http://schemas.openxmlformats.org/officeDocument/2006/relationships" id="264" r:id="Re7eb3e109d5c4d8e"/>
    <p:sldId xmlns:r="http://schemas.openxmlformats.org/officeDocument/2006/relationships" id="265" r:id="Rd6db7d74cbf84b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2ef6d283da48a5" /><Relationship Type="http://schemas.openxmlformats.org/officeDocument/2006/relationships/slideMaster" Target="/ppt/slideMasters/slideMaster1.xml" Id="R0e151400ec4f4e3f" /><Relationship Type="http://schemas.openxmlformats.org/officeDocument/2006/relationships/notesMaster" Target="/ppt/notesMasters/notesMaster1.xml" Id="R108fa845f05f412b" /><Relationship Type="http://schemas.openxmlformats.org/officeDocument/2006/relationships/presProps" Target="/ppt/presProps.xml" Id="Rb1cf5f3ee0cc429a" /><Relationship Type="http://schemas.openxmlformats.org/officeDocument/2006/relationships/tableStyles" Target="/ppt/tableStyles.xml" Id="R985a3060cca24abf" /><Relationship Type="http://schemas.openxmlformats.org/officeDocument/2006/relationships/slide" Target="/ppt/slides/slide1.xml" Id="R2b1624ab48d64deb" /><Relationship Type="http://schemas.openxmlformats.org/officeDocument/2006/relationships/slide" Target="/ppt/slides/slide2.xml" Id="R548cf146fcd148a4" /><Relationship Type="http://schemas.openxmlformats.org/officeDocument/2006/relationships/slide" Target="/ppt/slides/slide3.xml" Id="Rb32c93523e314e5e" /><Relationship Type="http://schemas.openxmlformats.org/officeDocument/2006/relationships/slide" Target="/ppt/slides/slide4.xml" Id="R5689e7512a954448" /><Relationship Type="http://schemas.openxmlformats.org/officeDocument/2006/relationships/slide" Target="/ppt/slides/slide5.xml" Id="Rac3c480772ca4d5f" /><Relationship Type="http://schemas.openxmlformats.org/officeDocument/2006/relationships/slide" Target="/ppt/slides/slide6.xml" Id="R6a698e6358e04043" /><Relationship Type="http://schemas.openxmlformats.org/officeDocument/2006/relationships/slide" Target="/ppt/slides/slide7.xml" Id="Ra1b966da2b1741fc" /><Relationship Type="http://schemas.openxmlformats.org/officeDocument/2006/relationships/slide" Target="/ppt/slides/slide8.xml" Id="R73c0ef2037ea4a29" /><Relationship Type="http://schemas.openxmlformats.org/officeDocument/2006/relationships/slide" Target="/ppt/slides/slide9.xml" Id="Re7eb3e109d5c4d8e" /><Relationship Type="http://schemas.openxmlformats.org/officeDocument/2006/relationships/slide" Target="/ppt/slides/slide10.xml" Id="Rd6db7d74cbf84b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b91a9387484a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32650beb7046cb" /><Relationship Type="http://schemas.openxmlformats.org/officeDocument/2006/relationships/notesMaster" Target="/ppt/notesMasters/notesMaster1.xml" Id="Rc3c6cd1e0ece4b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a33b8f44064c42" /><Relationship Type="http://schemas.openxmlformats.org/officeDocument/2006/relationships/notesMaster" Target="/ppt/notesMasters/notesMaster1.xml" Id="R2ae759a26a2240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136db815e84309" /><Relationship Type="http://schemas.openxmlformats.org/officeDocument/2006/relationships/notesMaster" Target="/ppt/notesMasters/notesMaster1.xml" Id="Ra050e7ddf59e4d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d69aa153d14d7e" /><Relationship Type="http://schemas.openxmlformats.org/officeDocument/2006/relationships/notesMaster" Target="/ppt/notesMasters/notesMaster1.xml" Id="Rdc493fb2e03348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e889cc84344c44" /><Relationship Type="http://schemas.openxmlformats.org/officeDocument/2006/relationships/notesMaster" Target="/ppt/notesMasters/notesMaster1.xml" Id="Rb5f297a728c343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b809742084406c" /><Relationship Type="http://schemas.openxmlformats.org/officeDocument/2006/relationships/notesMaster" Target="/ppt/notesMasters/notesMaster1.xml" Id="R1c4846a8700644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97c3249fd649f8" /><Relationship Type="http://schemas.openxmlformats.org/officeDocument/2006/relationships/notesMaster" Target="/ppt/notesMasters/notesMaster1.xml" Id="Raf15db8c049544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e441c49ee54585" /><Relationship Type="http://schemas.openxmlformats.org/officeDocument/2006/relationships/notesMaster" Target="/ppt/notesMasters/notesMaster1.xml" Id="R22fe08e5ee3a4e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61c996e70b4112" /><Relationship Type="http://schemas.openxmlformats.org/officeDocument/2006/relationships/notesMaster" Target="/ppt/notesMasters/notesMaster1.xml" Id="R38e24df320d241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3d79fe4602423a" /><Relationship Type="http://schemas.openxmlformats.org/officeDocument/2006/relationships/notesMaster" Target="/ppt/notesMasters/notesMaster1.xml" Id="R2849ac66dd5642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本次展示的是当前 GolfHeadCam 完整交付版本。核心是用原生蓝图连接简化挥杆、固定头戴相机、第三人称观察以及实时球运动。先播放完整双视角视频，再用工程说明暂停、相机导航和实际轨迹。人物与骨架复用 Epic 模板，动作是编排的关键姿势，并非真人动作捕捉。运行逻辑保存在蓝图中，动画和材质也是原生资源；作者阶段使用的工具不参与游戏运行。今天会区分已经验证的行为、仿真假设和后续改进。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任务书把完整可运行的基础要求放在首位，所以实现顺序先处理场景中的人、杆、球和地面，再处理动作及头部绑定。基础稳定后补充正式视频和两个加分项。复用 Epic 人物让时间集中在动作与相机的关联上。查资料以官方文档和本机 API 为准，遇到版本差异先做小范围探测。这里也明确来源边界：网格和骨架来自模板，动作关键帧、几何球杆、场景与蓝图由本工程编排。AI 协助研究和生成作者工具，但工程运行不用这些临时脚本。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Epic: Skeletal Mesh Sockets</a:t>
            </a:r>
          </a:p>
          <a:p xmlns:a="http://schemas.openxmlformats.org/drawingml/2006/main">
            <a:r>
              <a:t>https://dev.epicgames.com/documentation/en-us/unreal-engine/skeletal-mesh-sockets-in-unreal-engine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Epic: Movie Render Pipeline</a:t>
            </a:r>
          </a:p>
          <a:p xmlns:a="http://schemas.openxmlformats.org/drawingml/2006/main">
            <a:r>
              <a:t>https://dev.epicgames.com/documentation/en-us/unreal-engine/movie-render-pipeline-in-unreal-engine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Epic: Post Process Materials</a:t>
            </a:r>
          </a:p>
          <a:p xmlns:a="http://schemas.openxmlformats.org/drawingml/2006/main">
            <a:r>
              <a:t>https://dev.epicgames.com/documentation/en-us/unreal-engine/post-process-materials-in-unreal-engine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OpenCV: Camera Calibration and 3D Reconstruction</a:t>
            </a:r>
          </a:p>
          <a:p xmlns:a="http://schemas.openxmlformats.org/drawingml/2006/main">
            <a:r>
              <a:t>https://docs.opencv.org/4.13.0/d9/d0c/group__calib3d.html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连续播放第三人称视频，再播放头戴视频，每段约六秒。前一秒准备，中间四秒挥杆，最后一秒保持收杆。相同动作时刻可以在两段视频中对应，动作二点二五秒对应录像约三点二五秒。第三人称采用当前肩后机位，便于检查球杆、身体和轨迹。头戴相机固定在头骨，保留上杆和收杆造成的遮挡，不额外追球。新版视频由当前蓝图重新渲染，球会根据重力和碰撞实时运动，金色线条沿实际走过的位置逐步延伸。视频是无畸变基线，畸变对照在后面的网格页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先在工程中运行。初始是右肩后方视角，动作时间为零，不自动挥杆；移动鼠标就能绕人物观察，人物整体不移动。按 Tab 显示鼠标，点击左下控制台播放，再暂停。WASDQE 直接移动相机，Shift 加速，Home 恢复启动机位。此时观察动画时间不因相机操作变化。按 V 切换头戴视角，或用界面按钮选择。WBP_GolfCameraConsole 继承 WBP_CameraControl，复用父界面布局和控制逻辑。播放与暂停同时作用于球；即使挥杆结束后球还在运动，也可以继续暂停和恢复。重新开始则把球和历史轨迹一起复位。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相机安装不是每帧计算一个朝向球的 Look At，而是使用一个固定的骨骼相对变换。头骨世界变换与固定安装变换相乘，得到相机世界变换。因此头部平移和旋转都自然传递给镜头。头戴相机在头部附近，准备姿势向下约五十五度，水平视场角一百度。需要注意，骨骼本地轴和相机前向不同，组件的局部 Pitch 不能直接当成世界俯角。这里先根据准备姿势反算局部偏移，再通过运行轨迹验证它不随动作漂移。球出画或遮挡是分析内容，而不是用追踪镜头隐藏的问题。 当前第三人称默认相对角色位置为负六十五、负二百四十、一百七十厘米，旋转为负十四、八十五、零度，水平 FOV 八十度；它用于外部观察，与头戴一百度的视场角分别配置。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Epic: Skeletal Mesh Sockets</a:t>
            </a:r>
          </a:p>
          <a:p xmlns:a="http://schemas.openxmlformats.org/drawingml/2006/main">
            <a:r>
              <a:t>https://dev.epicgames.com/documentation/en-us/unreal-engine/skeletal-mesh-sockets-in-unreal-engine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65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当前球已经不使用动作时间代入预设位置公式。动作到二点二五秒只负责触发一次发射，初速度为六百五十、零、三百八十厘米每秒。之后由原生 ProjectileMovement 组件按重力、扫掠碰撞、反弹和摩擦更新球。恢复系数零点四二，摩擦零点三五。轨迹在运动更新后读取球的实际世界位置，把相邻位置连接；击球前没有未来路径，碰撞后线条随实际方向变化。T 隐藏轨迹不会清除已记录部分，重新显示能看到此前飞过的路径。暂停保持球和线条，重播清空历史。这里仍未计算杆面冲量、自旋升力和空气阻力，因此不以结果预测真实高尔夫距离。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Epic: UProjectileMovementComponent</a:t>
            </a:r>
          </a:p>
          <a:p xmlns:a="http://schemas.openxmlformats.org/drawingml/2006/main">
            <a:r>
              <a:t>https://dev.epicgames.com/documentation/unreal-engine/API/Runtime/Engine/UProjectileMovementComponent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70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参把三维视线转换到图像坐标。这里设定一千九百二十乘一千零八十像素，采用方形像素，水平视场角一百度。焦距使用图像宽度除以二倍半视场角正切，得到约八百零五点五三六像素。主点位于九百六十、五百四十。坐标约定必须说清楚：左上角为连续坐标原点，横向向右，纵向向下，每个像素中心是索引加零点五。这个约定避免把边界坐标和整数像素中心混用。所有值都是仿真假设，用来验证参数到成像的映射；不能把它说成某台真实设备的标定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OpenCV: Camera Calibration and 3D Reconstruction</a:t>
            </a:r>
          </a:p>
          <a:p xmlns:a="http://schemas.openxmlformats.org/drawingml/2006/main">
            <a:r>
              <a:t>https://docs.opencv.org/4.13.0/d9/d0c/group__calib3d.html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65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畸变选用径向加切向的 Brown-Conrady 模型。径向项主要控制离中心越远的弯曲，切向项提供较小的不对称偏移。为了生成畸变图像，后处理材质从每个输出像素反求原图采样位置，避免前向移动像素形成空洞。演示时把同一场景、同一姿态的无畸变和有畸变结果并排看，使用三十二列、十八行的网格作为参照。独立数值计算检查八次逆映射迭代的残差，另外用独立重映射结果对照 UE 实际渲染像素，不能只用公式计算代替图像验证。最终网格线显示预期弯曲，源图范围之外保留黑边。这里的效果与运动模糊、景深分别控制，参数来源是明确标注的仿真假设。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Epic: Post Process Materials</a:t>
            </a:r>
          </a:p>
          <a:p xmlns:a="http://schemas.openxmlformats.org/drawingml/2006/main">
            <a:r>
              <a:t>https://dev.epicgames.com/documentation/en-us/unreal-engine/post-process-materials-in-unreal-engine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OpenCV: Camera Calibration and 3D Reconstruction</a:t>
            </a:r>
          </a:p>
          <a:p xmlns:a="http://schemas.openxmlformats.org/drawingml/2006/main">
            <a:r>
              <a:t>https://docs.opencv.org/4.13.0/d9/d0c/group__calib3d.html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65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验证证据分开看。交互与实时球运动已有二十八项有效检查，资产已有二十五项检查；它们覆盖人物根部不移动、实际轨迹、地面与临时墙碰撞、摩擦、暂停、重播，以及动画结束后球仍在运动时的控制。临时障碍物没有保存进正式场景。当前视频重新渲染后逐帧解码三百六十帧，并读取电影运行中的球位置、速度和头戴固定安装，确认视频确实来自当前原生运动逻辑。镜头图像检查仍采用独立逆映射对照。最终 ZIP 用校验清单证明文件完整；哈希验证不能替代功能测试。早期失败或作废会话被明确区分，不能计入通过项。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从公开 Release 下载完整交付包并解压，用 UE5.8.3 打开 GolfHeadCam 文件夹中的工程入口。Content 和 Config 必须保持同级，不能只复制 uproject。报告、十页 PPT、讲稿和相机参数都已与当前功能统一，头戴和第三人称视频可直接播放；Content/Movies 也放入回放副本，可通过相机控制台查看。完整包不包含引擎和缓存。本次完成的是可编辑工程及演示材料，不把未进行的真人演讲说成完成。限制包括简化挥杆、可调发射条件、假设内参、遮挡与黑边。面向机器人视觉，下一步优先补时间戳、相机外参、深度及分割标签，再加入真实标定、传感器噪声和空气动力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ba7ab1a83340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b9881ae1384d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2522d715f49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130a2711741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fe6db10ebf4a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7d1c535de4c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F7F85C-886F-4D9E-B169-B335CC4F21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F84E34-001D-4D59-BF77-6068817433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26A962-3D80-4253-81F4-EEA0CC3FBA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E637F6-C21C-45F6-A24B-CBFDCCC481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DD3B3F-D61F-4105-B280-7BA3B34FE6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220537-317E-4FB1-8B6E-C18F87278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409184-D462-4CEF-80DF-2D5018CD03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C6F690-F547-4E96-82FD-5CC4FCF45D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2B9B0C-2BC2-46E6-A471-85BA2C06D3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80DA6B-FA36-44D6-9F8D-2803E72178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36672ee5d44a10" /><Relationship Type="http://schemas.openxmlformats.org/officeDocument/2006/relationships/slideLayout" Target="/ppt/slideLayouts/slideLayout1.xml" Id="Rf4726fe9cb194c08" /><Relationship Type="http://schemas.openxmlformats.org/officeDocument/2006/relationships/slideLayout" Target="/ppt/slideLayouts/slideLayout2.xml" Id="R2c820e0072e947df" /><Relationship Type="http://schemas.openxmlformats.org/officeDocument/2006/relationships/slideLayout" Target="/ppt/slideLayouts/slideLayout3.xml" Id="Rc71237b85a7e461b" /><Relationship Type="http://schemas.openxmlformats.org/officeDocument/2006/relationships/slideLayout" Target="/ppt/slideLayouts/slideLayout4.xml" Id="R8bff3659a995420d" /><Relationship Type="http://schemas.openxmlformats.org/officeDocument/2006/relationships/slideLayout" Target="/ppt/slideLayouts/slideLayout5.xml" Id="R4cb0539229d34755" /><Relationship Type="http://schemas.openxmlformats.org/officeDocument/2006/relationships/slideLayout" Target="/ppt/slideLayouts/slideLayout6.xml" Id="R228c9d7c567b41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726fe9cb194c08"/>
    <p:sldLayoutId xmlns:r="http://schemas.openxmlformats.org/officeDocument/2006/relationships" id="2147483650" r:id="R2c820e0072e947df"/>
    <p:sldLayoutId xmlns:r="http://schemas.openxmlformats.org/officeDocument/2006/relationships" id="2147483651" r:id="Rc71237b85a7e461b"/>
    <p:sldLayoutId xmlns:r="http://schemas.openxmlformats.org/officeDocument/2006/relationships" id="2147483652" r:id="R8bff3659a995420d"/>
    <p:sldLayoutId xmlns:r="http://schemas.openxmlformats.org/officeDocument/2006/relationships" id="2147483653" r:id="R4cb0539229d34755"/>
    <p:sldLayoutId xmlns:r="http://schemas.openxmlformats.org/officeDocument/2006/relationships" id="2147483654" r:id="R228c9d7c567b41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4e6b308bf44147" /><Relationship Type="http://schemas.openxmlformats.org/officeDocument/2006/relationships/image" Target="/ppt/media/image.png" Id="R1d004b4826f04cac" /><Relationship Type="http://schemas.openxmlformats.org/officeDocument/2006/relationships/notesSlide" Target="/ppt/notesSlides/notesSlide1.xml" Id="Rf789a22501c145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fdeff4c76d4836" /><Relationship Type="http://schemas.openxmlformats.org/officeDocument/2006/relationships/notesSlide" Target="/ppt/notesSlides/notesSlide2.xml" Id="R8ba4aa214f6046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1534e0d6f442b" /><Relationship Type="http://schemas.openxmlformats.org/officeDocument/2006/relationships/image" Target="/ppt/media/image2.png" Id="Rc7542738a9dc4902" /><Relationship Type="http://schemas.openxmlformats.org/officeDocument/2006/relationships/image" Target="/ppt/media/image3.png" Id="R17b67a4bb2da4750" /><Relationship Type="http://schemas.openxmlformats.org/officeDocument/2006/relationships/notesSlide" Target="/ppt/notesSlides/notesSlide3.xml" Id="Rb2031b1d24ff42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62e4abc27a4b69" /><Relationship Type="http://schemas.openxmlformats.org/officeDocument/2006/relationships/notesSlide" Target="/ppt/notesSlides/notesSlide4.xml" Id="Rac9eb82fcf024f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eff184b0aa4426" /><Relationship Type="http://schemas.openxmlformats.org/officeDocument/2006/relationships/image" Target="/ppt/media/image4.png" Id="R42523c5f43ce4bfd" /><Relationship Type="http://schemas.openxmlformats.org/officeDocument/2006/relationships/notesSlide" Target="/ppt/notesSlides/notesSlide5.xml" Id="R01e67e43f14c45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5db499b93347a6" /><Relationship Type="http://schemas.openxmlformats.org/officeDocument/2006/relationships/image" Target="/ppt/media/image5.png" Id="Re96f427678d948bc" /><Relationship Type="http://schemas.openxmlformats.org/officeDocument/2006/relationships/notesSlide" Target="/ppt/notesSlides/notesSlide6.xml" Id="R91c1f86a5cca4a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b55e87dc9942ed" /><Relationship Type="http://schemas.openxmlformats.org/officeDocument/2006/relationships/notesSlide" Target="/ppt/notesSlides/notesSlide7.xml" Id="R8c789992c25b48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35048149994c09" /><Relationship Type="http://schemas.openxmlformats.org/officeDocument/2006/relationships/image" Target="/ppt/media/image6.png" Id="R7fb2eca045564b9d" /><Relationship Type="http://schemas.openxmlformats.org/officeDocument/2006/relationships/image" Target="/ppt/media/image7.png" Id="Rd0035a59441146b8" /><Relationship Type="http://schemas.openxmlformats.org/officeDocument/2006/relationships/notesSlide" Target="/ppt/notesSlides/notesSlide8.xml" Id="R6eef9923615b42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420c75099e488e" /><Relationship Type="http://schemas.openxmlformats.org/officeDocument/2006/relationships/notesSlide" Target="/ppt/notesSlides/notesSlide9.xml" Id="Rb5e1e9610f7648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68af8c228a4bda" /><Relationship Type="http://schemas.openxmlformats.org/officeDocument/2006/relationships/image" Target="/ppt/media/image8.png" Id="R8870f63282aa4303" /><Relationship Type="http://schemas.openxmlformats.org/officeDocument/2006/relationships/notesSlide" Target="/ppt/notesSlides/notesSlide10.xml" Id="Rdb606115132c48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2338E-397C-4F9B-A14A-D3A32AC4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5334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200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200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200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200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200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200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200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200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200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4200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rPr>
              <a:t>高尔夫挥杆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4200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rPr>
              <a:t>与头戴相机仿真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57D9E-25B2-4701-975F-32634230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528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rPr>
              <a:t>GolfHeadCam / UE 5.8.3 / 当前完整交付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DDB1E-189F-4551-9B3E-89F1DD10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23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实时球运动、头戴视角与相机控制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UE 工程、双视角视频与实验报告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190BC-94C9-4816-8288-7D58BFF0A2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04b4826f04cac"/>
          <a:stretch xmlns:a="http://schemas.openxmlformats.org/drawingml/2006/main"/>
        </p:blipFill>
        <p:spPr>
          <a:xfrm xmlns:a="http://schemas.openxmlformats.org/drawingml/2006/main">
            <a:off x="6286500" y="1928813"/>
            <a:ext cx="5334000" cy="3000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C9953-0186-4E56-8390-D348DD85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10309019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C6CF8-3855-4D33-8EC2-E01E3892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rPr>
              <a:t>任务拆解与来源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45260-D706-4772-9A8E-EE7A4749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场景、挥杆、头骨绑定与交互操作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E4C9C-4F7B-40B3-84CA-35D0A36B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实时球运动、镜头模型与双视角视频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CBCB5-717E-4C23-A0E9-E90158A3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Epic 模板提供人物网格与骨架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29AB7-4BC9-4C7F-9728-F3C0A966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本工程编排动作、场景、蓝图和相机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8E4C3-0F43-4B81-97E3-66B9F41D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AI 与脚本用于作者阶段，运行时采用蓝图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AF8A9-8243-443B-97B2-C53CEF01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049568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13C0F-A0D2-46D0-A28A-0D3264AD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rPr>
              <a:t>完整挥杆与双视角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B3F71-C979-458B-BC06-8D5B2DE15D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42738a9dc4902"/>
          <a:stretch xmlns:a="http://schemas.openxmlformats.org/drawingml/2006/main"/>
        </p:blipFill>
        <p:spPr>
          <a:xfrm xmlns:a="http://schemas.openxmlformats.org/drawingml/2006/main">
            <a:off x="642408" y="1476375"/>
            <a:ext cx="5249333" cy="295275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FD475-E128-4BA4-AC36-EF8E6C4504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67a4bb2da4750"/>
          <a:stretch xmlns:a="http://schemas.openxmlformats.org/drawingml/2006/main"/>
        </p:blipFill>
        <p:spPr>
          <a:xfrm xmlns:a="http://schemas.openxmlformats.org/drawingml/2006/main">
            <a:off x="6300258" y="1476375"/>
            <a:ext cx="5249333" cy="2952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2FBC0-EF32-4770-AD84-BA1CDED6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rPr>
              <a:t>第三人称动作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80CD4-46C7-4452-88BC-CF78EFEB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05325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rPr>
              <a:t>头戴接触附近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6A4DF-7C34-4D66-9941-FF2C12A6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7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4 秒挥杆，动作 2.25 秒发射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87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双视频：1080p / 60 fps / 约 6 秒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87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金色轨迹只记录已经走过的位置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8C39E-64BD-4363-97DD-A9823D78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168454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B2D82-A47C-4179-8580-9D47D8AB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rPr>
              <a:t>播放控制与相机 UI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49556-EF2E-4726-BCD9-A4B5C5C0B477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72390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524375"/>
              </a:tblGrid>
              <a:tr h="5429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T w="7620">
                      <a:solidFill>
                        <a:srgbClr val="D6DFD9"/>
                      </a:solidFill>
                      <a:prstDash val="solid"/>
                    </a:lnT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193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D6DFD9"/>
                      </a:solidFill>
                      <a:prstDash val="solid"/>
                    </a:lnR>
                    <a:lnT w="7620">
                      <a:solidFill>
                        <a:srgbClr val="D6DFD9"/>
                      </a:solidFill>
                      <a:prstDash val="solid"/>
                    </a:lnT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19392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Space / R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重新开始，复位球并清空轨迹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 / 播放、暂停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同时控制挥杆与球的运动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 / 视角按钮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第三人称与头戴相机切换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Tab / 鼠标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界面鼠标与直接环绕切换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WASDQE / Home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平移机位 / 恢复右肩后方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734E9-4633-472A-BE8B-C5A90CA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95450"/>
            <a:ext cx="3333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子界面继承父界面布局与控制逻辑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0440B-E01E-4F9D-9CBB-C9361949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19400"/>
            <a:ext cx="3333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相机调整不改变动画时间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7DEC3-5895-4E1E-B67D-E15A19AF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16611355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F9C3C-3E9A-468F-9DDC-F7518EFA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rPr>
              <a:t>头骨绑定与安装参数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7B72D-BCE9-4CD0-BFF2-CAD7B80D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048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T_camera = T_head × T_mount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FA6A6-B2B5-4247-AF4A-D17CE4D3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048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head 局部安装变换保持固定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50D60-547E-4EF5-805E-AE2517FE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048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水平 FOV 100°，准备姿势俯视约 55°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739C9-B5D0-436F-8E2E-594A2785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048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头骨前方约 10 cm，上方约 8 cm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192E2-B15C-44CA-A2B8-D065CA5240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23c5f43ce4bfd"/>
          <a:stretch xmlns:a="http://schemas.openxmlformats.org/drawingml/2006/main"/>
        </p:blipFill>
        <p:spPr>
          <a:xfrm xmlns:a="http://schemas.openxmlformats.org/drawingml/2006/main">
            <a:off x="5905500" y="1840706"/>
            <a:ext cx="5715000" cy="321468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2E4E2-6D38-4F8F-8488-5F8C52E0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861340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AD9C2-6387-44E7-BD13-63892637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rPr>
              <a:t>实时球运动与实际轨迹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65C41-8529-4920-BEE1-30C1DB3D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048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动作 2.25 秒发射一次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582C3-0E39-490E-B4B0-92ADDD23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048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初速度 (650, 0, 380) cm/s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16A66-A513-423A-A54D-EAED794D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048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重力、扫掠碰撞、反弹与摩擦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E9A2F-487C-4035-966F-59EE39B2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048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T 显示已经走过的实际轨迹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72067-9CD7-4F26-AAFC-1EC10347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048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暂停保留历史，重新开始清空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0F849-C3C2-4CA1-A5AD-C021F088D6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f427678d948bc"/>
          <a:stretch xmlns:a="http://schemas.openxmlformats.org/drawingml/2006/main"/>
        </p:blipFill>
        <p:spPr>
          <a:xfrm xmlns:a="http://schemas.openxmlformats.org/drawingml/2006/main">
            <a:off x="5905500" y="1840706"/>
            <a:ext cx="5715000" cy="321468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C8668-B5C1-4F6A-8C8E-553860BB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11929695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DCC8B-DB1D-4452-BA66-DF983E76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rPr>
              <a:t>内参、单位与像素坐标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24989-2739-4ECA-8B23-0C158AA12A80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72390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524375"/>
              </a:tblGrid>
              <a:tr h="5429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T w="7620">
                      <a:solidFill>
                        <a:srgbClr val="D6DFD9"/>
                      </a:solidFill>
                      <a:prstDash val="solid"/>
                    </a:lnT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193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设定值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D6DFD9"/>
                      </a:solidFill>
                      <a:prstDash val="solid"/>
                    </a:lnR>
                    <a:lnT w="7620">
                      <a:solidFill>
                        <a:srgbClr val="D6DFD9"/>
                      </a:solidFill>
                      <a:prstDash val="solid"/>
                    </a:lnT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19392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图像尺寸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1920 × 1080 px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fx / fy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805.5356 / 805.5356 px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cx / cy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960 / 540 px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水平 / 垂直 FOV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100° / 67.673°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A7192-1C54-4C09-9B08-2A87155D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95450"/>
            <a:ext cx="3333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左上角为连续坐标原点，u 向右、v 向下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C2FBA-FD0C-43B1-A1C3-060D1A43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19400"/>
            <a:ext cx="3333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像素中心 (i+0.5, j+0.5)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C1660-922B-4B4D-8C1B-299DD51D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43350"/>
            <a:ext cx="3333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全部参数为仿真假设，未进行实体相机标定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353B3-9516-4830-A0AD-40521998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1506467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E65DA-47D3-4B21-B90F-0C1B32D9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rPr>
              <a:t>畸变模型与对照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DFB78-348B-448E-BBCA-BDEE7425C4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2eca045564b9d"/>
          <a:stretch xmlns:a="http://schemas.openxmlformats.org/drawingml/2006/main"/>
        </p:blipFill>
        <p:spPr>
          <a:xfrm xmlns:a="http://schemas.openxmlformats.org/drawingml/2006/main">
            <a:off x="642408" y="1476375"/>
            <a:ext cx="5249333" cy="295275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B59C9-E82F-45D5-A87D-D14375E303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35a59441146b8"/>
          <a:stretch xmlns:a="http://schemas.openxmlformats.org/drawingml/2006/main"/>
        </p:blipFill>
        <p:spPr>
          <a:xfrm xmlns:a="http://schemas.openxmlformats.org/drawingml/2006/main">
            <a:off x="6300258" y="1476375"/>
            <a:ext cx="5249333" cy="2952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0A24F-8D42-4F5E-A19D-BAEB848F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rPr>
              <a:t>无畸变参照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1FEDD-8471-4CC1-AA86-4EFB93B3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05325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rPr>
              <a:t>畸变结果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3C68C-B6B6-46B7-B8D7-4C650882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已实现并验证；Brown-Conrady 径向与切向模型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BA4C2-98C8-4EF4-B176-D6B2E82E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7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k1=-0.12，k2=0.02  p1=0.0005，p2=-0.0003  原生网格渲染与独立逆映射对照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32A66-C4D4-4ABB-8BDD-5C06E080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6064800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3AEA1-EBC0-47BD-85D3-0F88551A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rPr>
              <a:t>运行、录像与交付验证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68ECE-67E3-4603-AA42-0CEAF542C63E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72390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524375"/>
              </a:tblGrid>
              <a:tr h="5429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T w="7620">
                      <a:solidFill>
                        <a:srgbClr val="D6DFD9"/>
                      </a:solidFill>
                      <a:prstDash val="solid"/>
                    </a:lnT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193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当前证据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D6DFD9"/>
                      </a:solidFill>
                      <a:prstDash val="solid"/>
                    </a:lnR>
                    <a:lnT w="7620">
                      <a:solidFill>
                        <a:srgbClr val="D6DFD9"/>
                      </a:solidFill>
                      <a:prstDash val="solid"/>
                    </a:lnT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19392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交互与球运动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 项运行检查通过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组件与蓝图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 项资产检查通过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碰撞与轨迹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反弹、摩擦、实际位置记录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镜头对照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平均差 1.235/255；P95 0.955 px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双视角视频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D6DFD9"/>
                      </a:solidFill>
                      <a:prstDash val="solid"/>
                    </a:lnL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1080p / 60 fps / 360 帧 / 约 6 s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D6DFD9"/>
                      </a:solidFill>
                      <a:prstDash val="solid"/>
                    </a:lnR>
                    <a:lnB w="7620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F99E0-67D5-46D1-84AB-3E8C9F77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95450"/>
            <a:ext cx="3333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当前录像重新渲染，逐帧完整解码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BC15A-D1FB-4C56-B576-C76723B0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19400"/>
            <a:ext cx="3333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视频遥测检查运动与固定安装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71DAF-1810-4A0B-82EE-137F9898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43350"/>
            <a:ext cx="3333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ZIP 提供逐文件 SHA-256 清单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8B51B-D1EA-432C-927A-89A2D1F8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496643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3B2DD-A7F4-4936-8C4D-A3E99802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9392F"/>
                </a:solidFill>
                <a:latin typeface="Microsoft YaHei"/>
                <a:ea typeface="Microsoft YaHei"/>
                <a:cs typeface="Microsoft YaHei"/>
              </a:rPr>
              <a:t>交付复现与改进方向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A6B1F-8B3C-4504-BC70-1EBBFB99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048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UE5.8.3 打开 .uproject 并点击 Play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E6618-A504-4E09-9F80-033FA643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048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视频、报告、PPT 与参数一并交付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D2BDA-CBD9-4EAD-BDBC-C478894D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048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人物复用模板，运行逻辑保持蓝图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0FF2A-B3A7-4745-B355-A8AE0CDC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048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2F"/>
                </a:solidFill>
                <a:latin typeface="Microsoft YaHei"/>
                <a:ea typeface="Microsoft YaHei"/>
                <a:cs typeface="Microsoft YaHei"/>
              </a:rPr>
              <a:t>后续：真实标定、外参、深度与分割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F70F7-D170-4DE1-BE78-FCA0C9EE57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0f63282aa4303"/>
          <a:stretch xmlns:a="http://schemas.openxmlformats.org/drawingml/2006/main"/>
        </p:blipFill>
        <p:spPr>
          <a:xfrm xmlns:a="http://schemas.openxmlformats.org/drawingml/2006/main">
            <a:off x="5905500" y="1840706"/>
            <a:ext cx="5715000" cy="321468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D439D-7FEA-4944-ACBE-37E1C72C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46B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673454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2026-10-18T14:52:33.4760000Z</dcterms:created>
  <dcterms:modified xsi:type="dcterms:W3CDTF">2026-10-18T14:52:33.4760000Z</dcterms:modified>
</coreProperties>
</file>