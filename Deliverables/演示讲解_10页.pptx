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201859d0f84bcd" /><Relationship Type="http://schemas.openxmlformats.org/officeDocument/2006/relationships/extended-properties" Target="/docProps/app.xml" Id="Re6aa333ab1eb4ad7" /><Relationship Type="http://schemas.openxmlformats.org/officeDocument/2006/relationships/officeDocument" Target="/ppt/presentation.xml" Id="Rc4af71acde6548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e76989a9a04a07"/>
  </p:sldMasterIdLst>
  <p:notesMasterIdLst>
    <p:notesMasterId xmlns:r="http://schemas.openxmlformats.org/officeDocument/2006/relationships" r:id="Rd174ca7ecf9a4060"/>
  </p:notesMasterIdLst>
  <p:sldIdLst>
    <p:sldId xmlns:r="http://schemas.openxmlformats.org/officeDocument/2006/relationships" id="256" r:id="R7034ad0c7e164a48"/>
    <p:sldId xmlns:r="http://schemas.openxmlformats.org/officeDocument/2006/relationships" id="257" r:id="R449787844ecc4a63"/>
    <p:sldId xmlns:r="http://schemas.openxmlformats.org/officeDocument/2006/relationships" id="258" r:id="R9c58c3ee28a94edf"/>
    <p:sldId xmlns:r="http://schemas.openxmlformats.org/officeDocument/2006/relationships" id="259" r:id="R23bfc3a26b704536"/>
    <p:sldId xmlns:r="http://schemas.openxmlformats.org/officeDocument/2006/relationships" id="260" r:id="R7c2ce02b8f104d6e"/>
    <p:sldId xmlns:r="http://schemas.openxmlformats.org/officeDocument/2006/relationships" id="261" r:id="R3dcf6abbbdcf4b9b"/>
    <p:sldId xmlns:r="http://schemas.openxmlformats.org/officeDocument/2006/relationships" id="262" r:id="R2a089b9391c74355"/>
    <p:sldId xmlns:r="http://schemas.openxmlformats.org/officeDocument/2006/relationships" id="263" r:id="Rf5159136d19e4f3d"/>
    <p:sldId xmlns:r="http://schemas.openxmlformats.org/officeDocument/2006/relationships" id="264" r:id="Rf734744178974c83"/>
    <p:sldId xmlns:r="http://schemas.openxmlformats.org/officeDocument/2006/relationships" id="265" r:id="R2b721403f92a4e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4976e013ba47f5" /><Relationship Type="http://schemas.openxmlformats.org/officeDocument/2006/relationships/slideMaster" Target="/ppt/slideMasters/slideMaster1.xml" Id="R28e76989a9a04a07" /><Relationship Type="http://schemas.openxmlformats.org/officeDocument/2006/relationships/notesMaster" Target="/ppt/notesMasters/notesMaster1.xml" Id="Rd174ca7ecf9a4060" /><Relationship Type="http://schemas.openxmlformats.org/officeDocument/2006/relationships/presProps" Target="/ppt/presProps.xml" Id="R8e0d6300e72e417f" /><Relationship Type="http://schemas.openxmlformats.org/officeDocument/2006/relationships/tableStyles" Target="/ppt/tableStyles.xml" Id="R98b7076c28454b6d" /><Relationship Type="http://schemas.openxmlformats.org/officeDocument/2006/relationships/slide" Target="/ppt/slides/slide1.xml" Id="R7034ad0c7e164a48" /><Relationship Type="http://schemas.openxmlformats.org/officeDocument/2006/relationships/slide" Target="/ppt/slides/slide2.xml" Id="R449787844ecc4a63" /><Relationship Type="http://schemas.openxmlformats.org/officeDocument/2006/relationships/slide" Target="/ppt/slides/slide3.xml" Id="R9c58c3ee28a94edf" /><Relationship Type="http://schemas.openxmlformats.org/officeDocument/2006/relationships/slide" Target="/ppt/slides/slide4.xml" Id="R23bfc3a26b704536" /><Relationship Type="http://schemas.openxmlformats.org/officeDocument/2006/relationships/slide" Target="/ppt/slides/slide5.xml" Id="R7c2ce02b8f104d6e" /><Relationship Type="http://schemas.openxmlformats.org/officeDocument/2006/relationships/slide" Target="/ppt/slides/slide6.xml" Id="R3dcf6abbbdcf4b9b" /><Relationship Type="http://schemas.openxmlformats.org/officeDocument/2006/relationships/slide" Target="/ppt/slides/slide7.xml" Id="R2a089b9391c74355" /><Relationship Type="http://schemas.openxmlformats.org/officeDocument/2006/relationships/slide" Target="/ppt/slides/slide8.xml" Id="Rf5159136d19e4f3d" /><Relationship Type="http://schemas.openxmlformats.org/officeDocument/2006/relationships/slide" Target="/ppt/slides/slide9.xml" Id="Rf734744178974c83" /><Relationship Type="http://schemas.openxmlformats.org/officeDocument/2006/relationships/slide" Target="/ppt/slides/slide10.xml" Id="R2b721403f92a4e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d3effb22934f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df7291fc294699" /><Relationship Type="http://schemas.openxmlformats.org/officeDocument/2006/relationships/notesMaster" Target="/ppt/notesMasters/notesMaster1.xml" Id="Rfd2c917aa14d44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724c24f99b4faf" /><Relationship Type="http://schemas.openxmlformats.org/officeDocument/2006/relationships/notesMaster" Target="/ppt/notesMasters/notesMaster1.xml" Id="Rfb69af83167b41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f5d8870d29416a" /><Relationship Type="http://schemas.openxmlformats.org/officeDocument/2006/relationships/notesMaster" Target="/ppt/notesMasters/notesMaster1.xml" Id="R64139269a4ec4b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173c37e9c84648" /><Relationship Type="http://schemas.openxmlformats.org/officeDocument/2006/relationships/notesMaster" Target="/ppt/notesMasters/notesMaster1.xml" Id="R29f19828378a47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08095320ea4eb8" /><Relationship Type="http://schemas.openxmlformats.org/officeDocument/2006/relationships/notesMaster" Target="/ppt/notesMasters/notesMaster1.xml" Id="R7fa01aefe0f04d2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c1149a3f2249ba" /><Relationship Type="http://schemas.openxmlformats.org/officeDocument/2006/relationships/notesMaster" Target="/ppt/notesMasters/notesMaster1.xml" Id="R8d9386c698c847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c9418cb9b54182" /><Relationship Type="http://schemas.openxmlformats.org/officeDocument/2006/relationships/notesMaster" Target="/ppt/notesMasters/notesMaster1.xml" Id="R7110d4e3ea4645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7ca141e0554d1b" /><Relationship Type="http://schemas.openxmlformats.org/officeDocument/2006/relationships/notesMaster" Target="/ppt/notesMasters/notesMaster1.xml" Id="Rcf0c4a4f64f04f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1db81a4bd64c30" /><Relationship Type="http://schemas.openxmlformats.org/officeDocument/2006/relationships/notesMaster" Target="/ppt/notesMasters/notesMaster1.xml" Id="R9197090823474e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bc2e6cedef47c5" /><Relationship Type="http://schemas.openxmlformats.org/officeDocument/2006/relationships/notesMaster" Target="/ppt/notesMasters/notesMaster1.xml" Id="Rcee56bd439a441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这次实践围绕一个清楚的目标展开：人物完成准备和挥杆，头戴相机随头部真实运动，并输出可复现的视频。展示时先区分工程功能和验证范围。本项目使用 UE 5.8.3，游戏逻辑保存在原生蓝图中。人物来自 Epic 模板，动作采用关键姿势编排，并不是动作捕捉。接下来会展示双视角结果、蓝图关系、两个加分项和验证证据。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55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任务书把完整可运行的基础要求放在首位，所以实现顺序先处理场景中的人、杆、球和地面，再处理动作及头部绑定。基础稳定后补充正式视频和两个加分项。复用 Epic 人物让时间集中在动作与相机的关联上。查资料以官方文档和本机 API 为准，遇到版本差异先做小范围探测。这里也明确来源边界：网格和骨架来自模板，动作关键帧、几何球杆、场景与蓝图由本工程编排。AI 协助研究和生成作者工具，但工程运行不用这些临时脚本。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Epic: Skeletal Mesh Sockets</a:t>
            </a:r>
          </a:p>
          <a:p xmlns:a="http://schemas.openxmlformats.org/drawingml/2006/main">
            <a:r>
              <a:t>https://dev.epicgames.com/documentation/en-us/unreal-engine/skeletal-mesh-sockets-in-unreal-engine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Epic: Movie Render Pipeline</a:t>
            </a:r>
          </a:p>
          <a:p xmlns:a="http://schemas.openxmlformats.org/drawingml/2006/main">
            <a:r>
              <a:t>https://dev.epicgames.com/documentation/en-us/unreal-engine/movie-render-pipeline-in-unreal-engine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Epic: Post Process Materials</a:t>
            </a:r>
          </a:p>
          <a:p xmlns:a="http://schemas.openxmlformats.org/drawingml/2006/main">
            <a:r>
              <a:t>https://dev.epicgames.com/documentation/en-us/unreal-engine/post-process-materials-in-unreal-engine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OpenCV: Camera Calibration and 3D Reconstruction</a:t>
            </a:r>
          </a:p>
          <a:p xmlns:a="http://schemas.openxmlformats.org/drawingml/2006/main">
            <a:r>
              <a:t>https://docs.opencv.org/4.13.0/d9/d0c/group__calib3d.html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60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先播放完整第三人称视频，再播放头戴视频，两段都包含准备、上杆、下杆和收杆。请先看双手是否保持握持、球杆是否随手运动，再看接触附近人物、杆头和球的位置。头戴视角则检查手、杆和球的可见性。两段视频使用相同动作版本和时间安排，所以接触阶段能够对应。相机没有追球，头部朝向改变或手部遮挡造成的出画应保留并解释。演示时用六秒完整视频和必要的暂停复看，不用静态截图替代连续动作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60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蓝图把操作拆成几个可以解释的函数。PlaySwing 重置到起点并播放，TogglePause 让动画停止或继续，ToggleCamera 选择当前视角。暂停只停动作时钟，不关闭输入，因此还可以切换相机比较同一姿势。按 B 切换畸变，按 G 显示或隐藏头戴网格，切到第三人称时网格自动隐藏。Construction 和 BeginPlay 确定相机与球杆的附着关系。动画播放器计算保存的骨骼姿态，不需要逐帧运行 Python 求解关节。球飞行同样使用动作时间，暂停后球不会继续推进。此页演示一次暂停和视角切换，再回到头戴视角切换网格与畸变。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60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相机安装不是每帧计算一个朝向球的 Look At，而是使用一个固定的骨骼相对变换。头骨世界变换与固定安装变换相乘，得到相机世界变换。因此头部平移和旋转都自然传递给镜头。头戴相机在头部附近，准备姿势向下约五十五度，水平视场角一百度。需要注意，骨骼本地轴和相机前向不同，组件的局部 Pitch 不能直接当成世界俯角。这里先根据准备姿势反算局部偏移，再通过运行轨迹验证它不随动作漂移。球出画或遮挡是分析内容，而不是用追踪镜头隐藏的问题。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Epic: Skeletal Mesh Sockets</a:t>
            </a:r>
          </a:p>
          <a:p xmlns:a="http://schemas.openxmlformats.org/drawingml/2006/main">
            <a:r>
              <a:t>https://dev.epicgames.com/documentation/en-us/unreal-engine/skeletal-mesh-sockets-in-unreal-engine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65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球飞行使用蓝图预设弹道。我们关心的是接触附近启动，以及飞行方向和击球方向一致。把动画时间减去二点二五秒得到飞行时间，再限制在零到约零点七七五五秒之间。水平速度为每秒六百五十厘米，竖直初速度每秒三百八十厘米，重力九百八十厘米每平方秒。这样得到约五米的短距离演示，最高点比起点高约零点七四米。落地后保持位置。它清楚表达动作时序，却没有求解碰撞冲量、旋转、风阻或反弹。暂停和重播应同步作用于动作时钟和球的位置，这也是验证的重要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70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参把三维视线转换到图像坐标。这里设定一千九百二十乘一千零八十像素，采用方形像素，水平视场角一百度。焦距使用图像宽度除以二倍半视场角正切，得到约八百零五点五三六像素。主点位于九百六十、五百四十。坐标约定必须说清楚：左上角为连续坐标原点，横向向右，纵向向下，每个像素中心是索引加零点五。这个约定避免把边界坐标和整数像素中心混用。所有值都是仿真假设，用来验证参数到成像的映射；不能把它说成某台真实设备的标定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OpenCV: Camera Calibration and 3D Reconstruction</a:t>
            </a:r>
          </a:p>
          <a:p xmlns:a="http://schemas.openxmlformats.org/drawingml/2006/main">
            <a:r>
              <a:t>https://docs.opencv.org/4.13.0/d9/d0c/group__calib3d.html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65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畸变选用径向加切向的 Brown-Conrady 模型。径向项主要控制离中心越远的弯曲，切向项提供较小的不对称偏移。为了生成畸变图像，后处理材质从每个输出像素反求原图采样位置，避免前向移动像素形成空洞。演示时把同一场景、同一姿态的无畸变和有畸变结果并排看，使用三十二列、十八行的网格作为参照。独立数值计算检查八次逆映射迭代的残差，另外用独立重映射结果对照 UE 实际渲染像素，不能只用公式计算代替图像验证。最终网格线显示预期弯曲，源图范围之外保留黑边。这里的效果与运动模糊、景深分别控制，参数来源是明确标注的仿真假设。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Epic: Post Process Materials</a:t>
            </a:r>
          </a:p>
          <a:p xmlns:a="http://schemas.openxmlformats.org/drawingml/2006/main">
            <a:r>
              <a:t>https://dev.epicgames.com/documentation/en-us/unreal-engine/post-process-materials-in-unreal-engine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OpenCV: Camera Calibration and 3D Reconstruction</a:t>
            </a:r>
          </a:p>
          <a:p xmlns:a="http://schemas.openxmlformats.org/drawingml/2006/main">
            <a:r>
              <a:t>https://docs.opencv.org/4.13.0/d9/d0c/group__calib3d.html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65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验证分成基础交互、最终双视角轨迹和实际图像三层。基础交互记录四百四十三个采样点，十三项检查通过，覆盖播放、重播、暂停与切换。最终轨迹记录七百八十八点，十一项检查通过；双视角在二百四十一个共同动作时刻的几何状态一致，覆盖完整四秒动作。接触检查球面到杆头有向包围盒的距离，飞行与预设公式比较。原生畸变图对照独立重映射，平均像素差一点二三五，边缘距离百分之九十五分位数不到一像素。两段视频均完整解码三百六十帧。最后复制二百七十一个核心文件，核对哈希，使用引擎独立游戏模式启动副本，实际检查播放、暂停、切换、重播、畸变与网格；这不是打包的 EXE 测试。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 55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复现从打开 UE 工程和指定地图开始，操作与导出参数随交付文件记录。需要清楚区分模板内容、本项目编排内容和 AI 作者工具。现在的动作、弹道和相机参数都经过简化，适合说明实现关系，不能宣称拥有精确高尔夫动力学或真实设备成像。若继续用于机器人视觉，优先增加每帧时间戳、相机外参、深度和分割标签，再用真实标定替换假设参数。之后再考虑可控光照变化、传感器噪声与滚动快门，以及独立训练和验证场景。最后按验收清单区分已完成、已验证和计划中的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6b541508ca4a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93516c1014e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19eb872d8342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b7d3d1ec245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9fdd1f083448b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7c44a6f4643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F7F85C-886F-4D9E-B169-B335CC4F21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0F84E34-001D-4D59-BF77-6068817433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F26A962-3D80-4253-81F4-EEA0CC3FB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E637F6-C21C-45F6-A24B-CBFDCCC481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8DD3B3F-D61F-4105-B280-7BA3B34FE6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9220537-317E-4FB1-8B6E-C18F87278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E409184-D462-4CEF-80DF-2D5018CD03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5C6F690-F547-4E96-82FD-5CC4FCF45D1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2B9B0C-2BC2-46E6-A471-85BA2C06D3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80DA6B-FA36-44D6-9F8D-2803E72178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54ea5892f645c8" /><Relationship Type="http://schemas.openxmlformats.org/officeDocument/2006/relationships/slideLayout" Target="/ppt/slideLayouts/slideLayout1.xml" Id="R60ad8d8065c24feb" /><Relationship Type="http://schemas.openxmlformats.org/officeDocument/2006/relationships/slideLayout" Target="/ppt/slideLayouts/slideLayout2.xml" Id="R8ae31cca0c634974" /><Relationship Type="http://schemas.openxmlformats.org/officeDocument/2006/relationships/slideLayout" Target="/ppt/slideLayouts/slideLayout3.xml" Id="R2d32197dbefe4ea7" /><Relationship Type="http://schemas.openxmlformats.org/officeDocument/2006/relationships/slideLayout" Target="/ppt/slideLayouts/slideLayout4.xml" Id="Ra177a720cc5c4535" /><Relationship Type="http://schemas.openxmlformats.org/officeDocument/2006/relationships/slideLayout" Target="/ppt/slideLayouts/slideLayout5.xml" Id="R587a43c345c54a07" /><Relationship Type="http://schemas.openxmlformats.org/officeDocument/2006/relationships/slideLayout" Target="/ppt/slideLayouts/slideLayout6.xml" Id="Rfb5b4368532e46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ad8d8065c24feb"/>
    <p:sldLayoutId xmlns:r="http://schemas.openxmlformats.org/officeDocument/2006/relationships" id="2147483650" r:id="R8ae31cca0c634974"/>
    <p:sldLayoutId xmlns:r="http://schemas.openxmlformats.org/officeDocument/2006/relationships" id="2147483651" r:id="R2d32197dbefe4ea7"/>
    <p:sldLayoutId xmlns:r="http://schemas.openxmlformats.org/officeDocument/2006/relationships" id="2147483652" r:id="Ra177a720cc5c4535"/>
    <p:sldLayoutId xmlns:r="http://schemas.openxmlformats.org/officeDocument/2006/relationships" id="2147483653" r:id="R587a43c345c54a07"/>
    <p:sldLayoutId xmlns:r="http://schemas.openxmlformats.org/officeDocument/2006/relationships" id="2147483654" r:id="Rfb5b4368532e46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1ef930ca4e4089" /><Relationship Type="http://schemas.openxmlformats.org/officeDocument/2006/relationships/image" Target="/ppt/media/image.png" Id="R7116055304e440a9" /><Relationship Type="http://schemas.openxmlformats.org/officeDocument/2006/relationships/notesSlide" Target="/ppt/notesSlides/notesSlide1.xml" Id="R40d3ea7dd29040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d5089c1ce245cc" /><Relationship Type="http://schemas.openxmlformats.org/officeDocument/2006/relationships/notesSlide" Target="/ppt/notesSlides/notesSlide2.xml" Id="R3b8383f8f5174f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57de1a94f24c78" /><Relationship Type="http://schemas.openxmlformats.org/officeDocument/2006/relationships/image" Target="/ppt/media/image2.png" Id="Rfec030c9d3b748fb" /><Relationship Type="http://schemas.openxmlformats.org/officeDocument/2006/relationships/image" Target="/ppt/media/image3.png" Id="R5a77f1818b804902" /><Relationship Type="http://schemas.openxmlformats.org/officeDocument/2006/relationships/notesSlide" Target="/ppt/notesSlides/notesSlide3.xml" Id="R0341bfd4a5224d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cd145d3a054528" /><Relationship Type="http://schemas.openxmlformats.org/officeDocument/2006/relationships/notesSlide" Target="/ppt/notesSlides/notesSlide4.xml" Id="Re6538459d2a742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317d5e761f4149" /><Relationship Type="http://schemas.openxmlformats.org/officeDocument/2006/relationships/image" Target="/ppt/media/image4.png" Id="R9ee8aad18b37492e" /><Relationship Type="http://schemas.openxmlformats.org/officeDocument/2006/relationships/notesSlide" Target="/ppt/notesSlides/notesSlide5.xml" Id="Rdabd10e085a347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ae8c81cc694617" /><Relationship Type="http://schemas.openxmlformats.org/officeDocument/2006/relationships/image" Target="/ppt/media/image5.png" Id="Rae50a9a0b3014e06" /><Relationship Type="http://schemas.openxmlformats.org/officeDocument/2006/relationships/notesSlide" Target="/ppt/notesSlides/notesSlide6.xml" Id="R2ccbba197eef49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748cf2c1f44a5e" /><Relationship Type="http://schemas.openxmlformats.org/officeDocument/2006/relationships/notesSlide" Target="/ppt/notesSlides/notesSlide7.xml" Id="R57df4c40736041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842e6f92314c74" /><Relationship Type="http://schemas.openxmlformats.org/officeDocument/2006/relationships/image" Target="/ppt/media/image6.png" Id="Rc854cec0ad984c0e" /><Relationship Type="http://schemas.openxmlformats.org/officeDocument/2006/relationships/image" Target="/ppt/media/image7.png" Id="Rd8e5d365e7514692" /><Relationship Type="http://schemas.openxmlformats.org/officeDocument/2006/relationships/notesSlide" Target="/ppt/notesSlides/notesSlide8.xml" Id="Rf6db47957aed47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d741d68256431e" /><Relationship Type="http://schemas.openxmlformats.org/officeDocument/2006/relationships/notesSlide" Target="/ppt/notesSlides/notesSlide9.xml" Id="Re5f160eeecb342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ec9657b03c4841" /><Relationship Type="http://schemas.openxmlformats.org/officeDocument/2006/relationships/image" Target="/ppt/media/image8.png" Id="Re9ac6063d4a44a79" /><Relationship Type="http://schemas.openxmlformats.org/officeDocument/2006/relationships/notesSlide" Target="/ppt/notesSlides/notesSlide10.xml" Id="R8385c7b36a6845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2338E-397C-4F9B-A14A-D3A32AC4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5334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4200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高尔夫挥杆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4200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与头戴相机仿真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57D9E-25B2-4701-975F-32634230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5286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80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GolfHeadCam / UE 5.8.3 / 蓝图运行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DDB1E-189F-4551-9B3E-89F1DD10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238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一段动作，同步检查人物、球杆与头部视角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可运行工程、视频、配置与验证材料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8A4E2-105D-4A14-A52C-2BBD971512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16055304e440a9"/>
          <a:stretch xmlns:a="http://schemas.openxmlformats.org/drawingml/2006/main"/>
        </p:blipFill>
        <p:spPr>
          <a:xfrm xmlns:a="http://schemas.openxmlformats.org/drawingml/2006/main">
            <a:off x="6286500" y="1928813"/>
            <a:ext cx="5334000" cy="30003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2C9953-0186-4E56-8390-D348DD85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1 / 10</a:t>
            </a:r>
          </a:p>
        </p:txBody>
      </p:sp>
    </p:spTree>
    <p:extLst>
      <p:ext uri="{BB962C8B-B14F-4D97-AF65-F5344CB8AC3E}">
        <p14:creationId xmlns:p14="http://schemas.microsoft.com/office/powerpoint/2010/main" val="10309019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AC6CF8-3855-4D33-8EC2-E01E3892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任务拆解与来源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645260-D706-4772-9A8E-EE7A4749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573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先完成场景、动作、头部绑定与操作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E4C9C-4F7B-40B3-84CA-35D0A36B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再补充视频、球飞行、成像模型和报告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CBCB5-717E-4C23-A0E9-E90158A3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Epic 模板提供人物网格与骨架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29AB7-4BC9-4C7F-9728-F3C0A966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8620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本工程编排场景、动作、蓝图和相机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8E4C3-0F43-4B81-97E3-66B9F41D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AI 与脚本用于作者阶段，运行时不加载 Python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AF8A9-8243-443B-97B2-C53CEF01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2 / 10</a:t>
            </a:r>
          </a:p>
        </p:txBody>
      </p:sp>
    </p:spTree>
    <p:extLst>
      <p:ext uri="{BB962C8B-B14F-4D97-AF65-F5344CB8AC3E}">
        <p14:creationId xmlns:p14="http://schemas.microsoft.com/office/powerpoint/2010/main" val="10495688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13C0F-A0D2-46D0-A28A-0D3264AD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完整挥杆与双视角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544C3-1256-42C6-BDDB-DBEBBADF15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030c9d3b748fb"/>
          <a:stretch xmlns:a="http://schemas.openxmlformats.org/drawingml/2006/main"/>
        </p:blipFill>
        <p:spPr>
          <a:xfrm xmlns:a="http://schemas.openxmlformats.org/drawingml/2006/main">
            <a:off x="642408" y="1476375"/>
            <a:ext cx="5249333" cy="295275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B94D62-0838-4035-AC8C-B481142492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77f1818b804902"/>
          <a:stretch xmlns:a="http://schemas.openxmlformats.org/drawingml/2006/main"/>
        </p:blipFill>
        <p:spPr>
          <a:xfrm xmlns:a="http://schemas.openxmlformats.org/drawingml/2006/main">
            <a:off x="6300258" y="1476375"/>
            <a:ext cx="5249333" cy="2952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2FBC0-EF32-4770-AD84-BA1CDED6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第三人称动作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80CD4-46C7-4452-88BC-CF78EFEB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05325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头戴接触附近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6A4DF-7C34-4D66-9941-FF2C12A6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87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4 秒动作，接触附近约 2.25 秒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187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视频：已导出并检查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187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两视角检查同一段动作的空间关系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8C39E-64BD-4363-97DD-A9823D78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3 / 10</a:t>
            </a:r>
          </a:p>
        </p:txBody>
      </p:sp>
    </p:spTree>
    <p:extLst>
      <p:ext uri="{BB962C8B-B14F-4D97-AF65-F5344CB8AC3E}">
        <p14:creationId xmlns:p14="http://schemas.microsoft.com/office/powerpoint/2010/main" val="1684544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B2D82-A47C-4179-8580-9D47D8AB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蓝图运行流程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D98BC-9ADC-432D-A6D7-E3EB35496569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72390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524375"/>
              </a:tblGrid>
              <a:tr h="5429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入口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T w="7620">
                      <a:solidFill>
                        <a:srgbClr val="D6DFD9"/>
                      </a:solidFill>
                      <a:prstDash val="solid"/>
                    </a:lnT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1939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动作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T w="7620">
                      <a:solidFill>
                        <a:srgbClr val="D6DFD9"/>
                      </a:solidFill>
                      <a:prstDash val="solid"/>
                    </a:lnT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19392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PlaySwing / Space、R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清除暂停，从头播放一次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TogglePause / P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暂停或恢复动画时钟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ToggleCamera / V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仅激活选中的相机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/ G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切换镜头畸变 / 头戴网格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Construction / BeginPlay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 head 和 hand_r 的相对绑定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9734E9-4633-472A-BE8B-C5A90CA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9545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原生动画保存姿态，蓝图控制播放状态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0440B-E01E-4F9D-9CBB-C9361949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1940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暂停期间仍能切换视角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7DEC3-5895-4E1E-B67D-E15A19AF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4 / 10</a:t>
            </a:r>
          </a:p>
        </p:txBody>
      </p:sp>
    </p:spTree>
    <p:extLst>
      <p:ext uri="{BB962C8B-B14F-4D97-AF65-F5344CB8AC3E}">
        <p14:creationId xmlns:p14="http://schemas.microsoft.com/office/powerpoint/2010/main" val="16611355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F9C3C-3E9A-468F-9DDC-F7518EFA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头骨绑定与安装参数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7B72D-BCE9-4CD0-BFF2-CAD7B80D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T_camera = T_head × T_mount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FFA6A6-B2B5-4247-AF4A-D17CE4D3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head 局部安装变换保持固定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50D60-547E-4EF5-805E-AE2517FE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水平 FOV 100°，准备姿势俯视约 55°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739C9-B5D0-436F-8E2E-594A2785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头骨前方约 10 cm，上方约 8 cm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224239-4DA7-4F55-9C77-FBF4B7D9C8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8aad18b37492e"/>
          <a:stretch xmlns:a="http://schemas.openxmlformats.org/drawingml/2006/main"/>
        </p:blipFill>
        <p:spPr>
          <a:xfrm xmlns:a="http://schemas.openxmlformats.org/drawingml/2006/main">
            <a:off x="5905500" y="1840706"/>
            <a:ext cx="5715000" cy="321468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2E4E2-6D38-4F8F-8488-5F8C52E0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5 / 10</a:t>
            </a:r>
          </a:p>
        </p:txBody>
      </p:sp>
    </p:spTree>
    <p:extLst>
      <p:ext uri="{BB962C8B-B14F-4D97-AF65-F5344CB8AC3E}">
        <p14:creationId xmlns:p14="http://schemas.microsoft.com/office/powerpoint/2010/main" val="8613405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AD9C2-6387-44E7-BD13-63892637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球飞行和动作时序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565C41-8529-4920-BEE1-30C1DB3D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已实现并验证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5582C3-0E39-490E-B4B0-92ADDD23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动作 2.25 秒附近启动预设弹道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16A66-A513-423A-A54D-EAED794D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水平 650 cm/s，竖直 380 cm/s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E9A2F-487C-4035-966F-59EE39B2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理论飞行 0.7755 s，水平约 5.04 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72067-9CD7-4F26-AAFC-1EC10347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不求解杆面冲量、旋转、阻力或反弹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7E864-EED2-42ED-9684-B0BE201734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0a9a0b3014e06"/>
          <a:stretch xmlns:a="http://schemas.openxmlformats.org/drawingml/2006/main"/>
        </p:blipFill>
        <p:spPr>
          <a:xfrm xmlns:a="http://schemas.openxmlformats.org/drawingml/2006/main">
            <a:off x="5905500" y="1840706"/>
            <a:ext cx="5715000" cy="3214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C8668-B5C1-4F6A-8C8E-553860BB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6 / 10</a:t>
            </a:r>
          </a:p>
        </p:txBody>
      </p:sp>
    </p:spTree>
    <p:extLst>
      <p:ext uri="{BB962C8B-B14F-4D97-AF65-F5344CB8AC3E}">
        <p14:creationId xmlns:p14="http://schemas.microsoft.com/office/powerpoint/2010/main" val="11929695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6DCC8B-DB1D-4452-BA66-DF983E76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内参、单位与像素坐标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B02E3-9E58-4B21-AF60-BDD6062A9A78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72390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524375"/>
              </a:tblGrid>
              <a:tr h="5429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参数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T w="7620">
                      <a:solidFill>
                        <a:srgbClr val="D6DFD9"/>
                      </a:solidFill>
                      <a:prstDash val="solid"/>
                    </a:lnT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1939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设定值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T w="7620">
                      <a:solidFill>
                        <a:srgbClr val="D6DFD9"/>
                      </a:solidFill>
                      <a:prstDash val="solid"/>
                    </a:lnT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19392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图像尺寸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1920 × 1080 px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fx / fy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805.5356 / 805.5356 px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cx / cy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960 / 540 px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水平 / 垂直 FOV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100° / 67.673°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A7192-1C54-4C09-9B08-2A87155D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9545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左上角为连续坐标原点，u 向右、v 向下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C2FBA-FD0C-43B1-A1C3-060D1A43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1940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像素中心 (i+0.5, j+0.5)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C1660-922B-4B4D-8C1B-299DD51D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94335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全部参数为仿真假设，未进行实体相机标定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353B3-9516-4830-A0AD-40521998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7 / 10</a:t>
            </a:r>
          </a:p>
        </p:txBody>
      </p:sp>
    </p:spTree>
    <p:extLst>
      <p:ext uri="{BB962C8B-B14F-4D97-AF65-F5344CB8AC3E}">
        <p14:creationId xmlns:p14="http://schemas.microsoft.com/office/powerpoint/2010/main" val="1506467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E65DA-47D3-4B21-B90F-0C1B32D9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畸变模型与对照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986DB-445D-4FE5-AC2B-66CC69A751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54cec0ad984c0e"/>
          <a:stretch xmlns:a="http://schemas.openxmlformats.org/drawingml/2006/main"/>
        </p:blipFill>
        <p:spPr>
          <a:xfrm xmlns:a="http://schemas.openxmlformats.org/drawingml/2006/main">
            <a:off x="642408" y="1476375"/>
            <a:ext cx="5249333" cy="295275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B841BC-B09C-47A0-9330-33C39E60A0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e5d365e7514692"/>
          <a:stretch xmlns:a="http://schemas.openxmlformats.org/drawingml/2006/main"/>
        </p:blipFill>
        <p:spPr>
          <a:xfrm xmlns:a="http://schemas.openxmlformats.org/drawingml/2006/main">
            <a:off x="6300258" y="1476375"/>
            <a:ext cx="5249333" cy="2952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20A24F-8D42-4F5E-A19D-BAEB848F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无畸变参照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1FEDD-8471-4CC1-AA86-4EFB93B3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05325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畸变结果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3C68C-B6B6-46B7-B8D7-4C650882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已实现并验证；Brown-Conrady 径向与切向模型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BA4C2-98C8-4EF4-B176-D6B2E82E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7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k1=-0.12，k2=0.02  p1=0.0005，p2=-0.0003  原生网格渲染与独立逆映射对照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32A66-C4D4-4ABB-8BDD-5C06E080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8 / 10</a:t>
            </a:r>
          </a:p>
        </p:txBody>
      </p:sp>
    </p:spTree>
    <p:extLst>
      <p:ext uri="{BB962C8B-B14F-4D97-AF65-F5344CB8AC3E}">
        <p14:creationId xmlns:p14="http://schemas.microsoft.com/office/powerpoint/2010/main" val="6064800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3AEA1-EBC0-47BD-85D3-0F88551A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运行与输出验证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E7855-0284-4E6B-96CD-3030C6D2A330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72390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524375"/>
              </a:tblGrid>
              <a:tr h="5429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检查项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T w="7620">
                      <a:solidFill>
                        <a:srgbClr val="D6DFD9"/>
                      </a:solidFill>
                      <a:prstDash val="solid"/>
                    </a:lnT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1939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实际证据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T w="7620">
                      <a:solidFill>
                        <a:srgbClr val="D6DFD9"/>
                      </a:solidFill>
                      <a:prstDash val="solid"/>
                    </a:lnT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19392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最终蓝图 / 运行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个蓝图无错误；11 项通过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双视角同步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241 个时刻，覆盖 0～4 秒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接触 / 轨迹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表面相切；符合预设弹道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畸变像素对照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平均差 1.235/255；边缘 P95 0.955 px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双视角视频</a:t>
                      </a:r>
                    </a:p>
                  </a:txBody>
                  <a:tcPr marL="123825" marR="123825" marT="95250" marB="95250" anchor="ctr">
                    <a:lnL w="7620">
                      <a:solidFill>
                        <a:srgbClr val="D6DFD9"/>
                      </a:solidFill>
                      <a:prstDash val="solid"/>
                    </a:lnL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6372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1080p / 60 fps / 360 帧 / 约 6 s</a:t>
                      </a:r>
                    </a:p>
                  </a:txBody>
                  <a:tcPr marL="123825" marR="123825" marT="95250" marB="95250" anchor="ctr">
                    <a:lnR w="7620">
                      <a:solidFill>
                        <a:srgbClr val="D6DFD9"/>
                      </a:solidFill>
                      <a:prstDash val="solid"/>
                    </a:lnR>
                    <a:lnB w="7620">
                      <a:solidFill>
                        <a:srgbClr val="D6DF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CF99E0-67D5-46D1-84AB-3E8C9F77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9545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基础交互：13 项检查通过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BC15A-D1FB-4C56-B576-C76723B0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1940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轨迹与原生图像分别验证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71DAF-1810-4A0B-82EE-137F9898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943350"/>
            <a:ext cx="3333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副本独立运行通过</a:t>
            </a:r>
          </a:p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271 个文件哈希一致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8B51B-D1EA-432C-927A-89A2D1F8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9 / 10</a:t>
            </a:r>
          </a:p>
        </p:txBody>
      </p:sp>
    </p:spTree>
    <p:extLst>
      <p:ext uri="{BB962C8B-B14F-4D97-AF65-F5344CB8AC3E}">
        <p14:creationId xmlns:p14="http://schemas.microsoft.com/office/powerpoint/2010/main" val="496643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3B2DD-A7F4-4936-8C4D-A3E99802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392F"/>
                </a:solidFill>
                <a:latin typeface="Microsoft YaHei"/>
                <a:ea typeface="Microsoft YaHei"/>
                <a:cs typeface="Microsoft YaHei"/>
              </a:rPr>
              <a:t>复现、限制与下一步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A6B1F-8B3C-4504-BC70-1EBBFB99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按配置重开工程并重现双视角输出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E6618-A504-4E09-9F80-033FA643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区分模板内容、作者工具和蓝图实现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D2BDA-CBD9-4EAD-BDBC-C478894D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优先补全时间戳、外参、深度与分割标签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0FF2A-B3A7-4745-B355-A8AE0CDC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048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6372F"/>
                </a:solidFill>
                <a:latin typeface="Microsoft YaHei"/>
                <a:ea typeface="Microsoft YaHei"/>
                <a:cs typeface="Microsoft YaHei"/>
              </a:rPr>
              <a:t>真实标定、噪声和滚动快门属于后续改进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49AB75-4861-47DB-BBA6-B1ED76EAC3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c6063d4a44a79"/>
          <a:stretch xmlns:a="http://schemas.openxmlformats.org/drawingml/2006/main"/>
        </p:blipFill>
        <p:spPr>
          <a:xfrm xmlns:a="http://schemas.openxmlformats.org/drawingml/2006/main">
            <a:off x="5905500" y="1840706"/>
            <a:ext cx="5715000" cy="321468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D439D-7FEA-4944-ACBE-37E1C72C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29375"/>
            <a:ext cx="619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6000"/>
              </a:lnSpc>
              <a:buNone/>
              <a:def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3746B"/>
                </a:solidFill>
                <a:latin typeface="Microsoft YaHei"/>
                <a:ea typeface="Microsoft YaHei"/>
                <a:cs typeface="Microsoft YaHei"/>
              </a:rPr>
              <a:t>10 / 10</a:t>
            </a:r>
          </a:p>
        </p:txBody>
      </p:sp>
    </p:spTree>
    <p:extLst>
      <p:ext uri="{BB962C8B-B14F-4D97-AF65-F5344CB8AC3E}">
        <p14:creationId xmlns:p14="http://schemas.microsoft.com/office/powerpoint/2010/main" val="16734544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2026-10-16T18:16:48.8620000Z</dcterms:created>
  <dcterms:modified xsi:type="dcterms:W3CDTF">2026-10-16T18:16:48.8620000Z</dcterms:modified>
</coreProperties>
</file>